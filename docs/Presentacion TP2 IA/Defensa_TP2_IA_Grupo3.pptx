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zhromP+i3wMN3RvKZ+fZzH7ND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6993" autoAdjust="0"/>
  </p:normalViewPr>
  <p:slideViewPr>
    <p:cSldViewPr snapToGrid="0">
      <p:cViewPr varScale="1">
        <p:scale>
          <a:sx n="62" d="100"/>
          <a:sy n="62" d="100"/>
        </p:scale>
        <p:origin x="20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Google Shape;524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0" name="Google Shape;550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7" name="Google Shape;587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8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8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8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E59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457200" y="32004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4D3CE"/>
                </a:solidFill>
                <a:latin typeface="Calibri"/>
                <a:ea typeface="Calibri"/>
                <a:cs typeface="Calibri"/>
                <a:sym typeface="Calibri"/>
              </a:rPr>
              <a:t>UTN — Facultad Regional Santa Fe   ·   Inteligencia Artificial 2026</a:t>
            </a: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457200" y="685800"/>
            <a:ext cx="1097280" cy="360"/>
          </a:xfrm>
          <a:prstGeom prst="straightConnector1">
            <a:avLst/>
          </a:prstGeom>
          <a:noFill/>
          <a:ln w="254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1"/>
          <p:cNvSpPr/>
          <p:nvPr/>
        </p:nvSpPr>
        <p:spPr>
          <a:xfrm>
            <a:off x="457200" y="914400"/>
            <a:ext cx="8228880" cy="16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Sistema multi-agente</a:t>
            </a:r>
            <a:endParaRPr sz="4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soporte clínico</a:t>
            </a:r>
            <a:endParaRPr sz="4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606040"/>
            <a:ext cx="822888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>
                <a:solidFill>
                  <a:srgbClr val="A7F3D0"/>
                </a:solidFill>
                <a:latin typeface="Cambria"/>
                <a:ea typeface="Cambria"/>
                <a:cs typeface="Cambria"/>
                <a:sym typeface="Cambria"/>
              </a:rPr>
              <a:t>para el seguimiento de pacientes con diabetes tipo 2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611880"/>
            <a:ext cx="4571280" cy="137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Trabajo Práctico N°2  ·  Grupo N°3</a:t>
            </a: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Agüero, Gonzalo</a:t>
            </a: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Debona, Marcos</a:t>
            </a: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Gaitán, Gonzalo</a:t>
            </a: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Ocampo, Franco</a:t>
            </a: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0" y="3611880"/>
            <a:ext cx="3199680" cy="137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Docentes</a:t>
            </a: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Gutiérrez, Milagros</a:t>
            </a: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Roa, Jorge</a:t>
            </a: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300" b="0" i="1" u="none" strike="noStrike" cap="none">
                <a:solidFill>
                  <a:srgbClr val="94D3CE"/>
                </a:solidFill>
                <a:latin typeface="Calibri"/>
                <a:ea typeface="Calibri"/>
                <a:cs typeface="Calibri"/>
                <a:sym typeface="Calibri"/>
              </a:rPr>
              <a:t>29 de junio de 2026</a:t>
            </a: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1  ·  INTRODUCCIÓN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El problema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1371600"/>
            <a:ext cx="8228880" cy="1279440"/>
          </a:xfrm>
          <a:prstGeom prst="roundRect">
            <a:avLst>
              <a:gd name="adj" fmla="val 5714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31520" y="1463040"/>
            <a:ext cx="7680240" cy="109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1" u="none" strike="noStrike" cap="none">
                <a:solidFill>
                  <a:srgbClr val="115E59"/>
                </a:solidFill>
                <a:latin typeface="Cambria"/>
                <a:ea typeface="Cambria"/>
                <a:cs typeface="Cambria"/>
                <a:sym typeface="Cambria"/>
              </a:rPr>
              <a:t>Seguimiento de diabetes tipo 2 = múltiples métricas + múltiples sesiones + interpretación conjunta compleja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2880360"/>
            <a:ext cx="2651040" cy="16909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3035880"/>
            <a:ext cx="410760" cy="4107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3035880"/>
            <a:ext cx="41076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170360" y="3017520"/>
            <a:ext cx="182808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Registros dispersos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3520440"/>
            <a:ext cx="2331000" cy="91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Datos repartidos entre visitas, planillas y memoria del médico.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246120" y="2880360"/>
            <a:ext cx="2651040" cy="16909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429000" y="3035880"/>
            <a:ext cx="410760" cy="4107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429000" y="3035880"/>
            <a:ext cx="41076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959280" y="3017520"/>
            <a:ext cx="182808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Tiempo escaso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429000" y="3520440"/>
            <a:ext cx="2331000" cy="91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Decenas de pacientes crónicos por consultorio, minutos por cita.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035040" y="2880360"/>
            <a:ext cx="2651040" cy="16909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17920" y="3035880"/>
            <a:ext cx="410760" cy="4107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17920" y="3035880"/>
            <a:ext cx="41076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748200" y="3017520"/>
            <a:ext cx="182808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Riesgo de omisión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217920" y="3520440"/>
            <a:ext cx="2331000" cy="91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Señales de alerta que pasan desapercibidas entre tantos números.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1  ·  INTRODUCCIÓN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¿Por qué diabetes? Justificación del dominio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1371600"/>
            <a:ext cx="8228880" cy="9594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0080" y="1554480"/>
            <a:ext cx="593640" cy="5936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80" y="1554480"/>
            <a:ext cx="593640" cy="593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417320" y="1508760"/>
            <a:ext cx="704016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Condición crónica más prevalente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417320" y="1874520"/>
            <a:ext cx="704016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nivel mundial. Caso de uso con relevancia real y volumen de información clínica sostenido en el tiempo.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2450520"/>
            <a:ext cx="8228880" cy="9594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2633400"/>
            <a:ext cx="593640" cy="5936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0080" y="2633400"/>
            <a:ext cx="593640" cy="593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417320" y="2587680"/>
            <a:ext cx="704016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Guías clínicas estandarizadas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417320" y="2953440"/>
            <a:ext cx="704016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ADA define umbrales precisos para diagnóstico y control. La SAD y MSAL aportan adaptación local.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3529440"/>
            <a:ext cx="8228880" cy="9594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40080" y="3712320"/>
            <a:ext cx="593640" cy="5936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0080" y="3712320"/>
            <a:ext cx="593640" cy="593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417320" y="3666600"/>
            <a:ext cx="704016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Combina reglas + razonamiento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417320" y="4032360"/>
            <a:ext cx="704016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Permite construir capa determinística (tools de cálculo auditables) + capa estocástica (interpretación con LLM).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45720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Esta combinación es la clave: las reglas dan piso de confianza, el LLM da contexto.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1  ·  INTRODUCCIÓN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Objetivo del sistema multiagente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1371600"/>
            <a:ext cx="8228880" cy="182808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22960" y="1508760"/>
            <a:ext cx="7497360" cy="155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1" u="none" strike="noStrike" cap="none">
                <a:solidFill>
                  <a:srgbClr val="115E59"/>
                </a:solidFill>
                <a:latin typeface="Cambria"/>
                <a:ea typeface="Cambria"/>
                <a:cs typeface="Cambria"/>
                <a:sym typeface="Cambria"/>
              </a:rPr>
              <a:t>Analizar</a:t>
            </a:r>
            <a:r>
              <a:rPr lang="en-US" sz="2200" b="0" i="1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 el historial del paciente, </a:t>
            </a:r>
            <a:r>
              <a:rPr lang="en-US" sz="2200" b="1" i="1" u="none" strike="noStrike" cap="none">
                <a:solidFill>
                  <a:srgbClr val="115E59"/>
                </a:solidFill>
                <a:latin typeface="Cambria"/>
                <a:ea typeface="Cambria"/>
                <a:cs typeface="Cambria"/>
                <a:sym typeface="Cambria"/>
              </a:rPr>
              <a:t>detectar</a:t>
            </a:r>
            <a:r>
              <a:rPr lang="en-US" sz="2200" b="0" i="1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 valores fuera de rango y tendencias, </a:t>
            </a:r>
            <a:r>
              <a:rPr lang="en-US" sz="2200" b="1" i="1" u="none" strike="noStrike" cap="none">
                <a:solidFill>
                  <a:srgbClr val="115E59"/>
                </a:solidFill>
                <a:latin typeface="Cambria"/>
                <a:ea typeface="Cambria"/>
                <a:cs typeface="Cambria"/>
                <a:sym typeface="Cambria"/>
              </a:rPr>
              <a:t>contextualizar</a:t>
            </a:r>
            <a:r>
              <a:rPr lang="en-US" sz="2200" b="0" i="1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 con guías clínicas, y </a:t>
            </a:r>
            <a:r>
              <a:rPr lang="en-US" sz="2200" b="1" i="1" u="none" strike="noStrike" cap="none">
                <a:solidFill>
                  <a:srgbClr val="115E59"/>
                </a:solidFill>
                <a:latin typeface="Cambria"/>
                <a:ea typeface="Cambria"/>
                <a:cs typeface="Cambria"/>
                <a:sym typeface="Cambria"/>
              </a:rPr>
              <a:t>producir</a:t>
            </a:r>
            <a:r>
              <a:rPr lang="en-US" sz="2200" b="0" i="1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 un reporte de soporte para el médico.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3520440"/>
            <a:ext cx="8228880" cy="1050840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31520" y="3657600"/>
            <a:ext cx="54792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371600" y="3611880"/>
            <a:ext cx="7131600" cy="91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Soporte a la decisión, no diagnóstico.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Todo reporte incluye la aclaración: "este reporte es un insumo de soporte y no reemplaza el criterio del médico tratante".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1  ·  INTRODUCCIÓN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Ambiente del agente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1417320"/>
            <a:ext cx="26510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40080" y="1554480"/>
            <a:ext cx="23310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Parcialmente observable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40080" y="1920240"/>
            <a:ext cx="233100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 historial registrado; no ve dieta, estrés, adherencia.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246120" y="1417320"/>
            <a:ext cx="26510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429000" y="1554480"/>
            <a:ext cx="23310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Estático durante ejecución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429000" y="1920240"/>
            <a:ext cx="233100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Los datos no cambian mientras el agente los procesa.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035040" y="1417320"/>
            <a:ext cx="26510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217920" y="1554480"/>
            <a:ext cx="23310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Output mixto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217920" y="1920240"/>
            <a:ext cx="233100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Determinístico en datos · estocástico en razonamiento.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" y="2926080"/>
            <a:ext cx="26510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40080" y="3063240"/>
            <a:ext cx="23310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Secuencial con memoria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40080" y="3429000"/>
            <a:ext cx="233100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Memoria de sesión + memoria persistente entre sesiones.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246120" y="2926080"/>
            <a:ext cx="26510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429000" y="3063240"/>
            <a:ext cx="23310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Discreto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429000" y="3429000"/>
            <a:ext cx="233100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Conjunto finito de percepciones y acciones.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035040" y="2926080"/>
            <a:ext cx="26510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217920" y="3063240"/>
            <a:ext cx="23310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Multiagente cooperativo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217920" y="3429000"/>
            <a:ext cx="233100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Tres agentes (Orquestador, Monitor, Clínico) colaboran.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Las dos propiedades clave: output mixto y multiagente cooperativo. Conectan con todo lo que viene.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2  ·  ARQUITECTURA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Para resolverlo, dividimos el trabajo en tres agentes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1371600"/>
            <a:ext cx="2651040" cy="30168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40080" y="1554480"/>
            <a:ext cx="2285280" cy="36504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40080" y="1554480"/>
            <a:ext cx="22852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ORQUESTADOR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40080" y="2103120"/>
            <a:ext cx="233100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u="none" strike="noStrike" cap="none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rPr>
              <a:t>¿qué hacemos con esta consulta?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40080" y="3017520"/>
            <a:ext cx="2331000" cy="127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Infiere la intención del médico, enruta el flujo y gestiona el loop de refinamiento.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246120" y="1371600"/>
            <a:ext cx="2651040" cy="30168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429000" y="1554480"/>
            <a:ext cx="2285280" cy="36504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429000" y="1554480"/>
            <a:ext cx="22852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429000" y="2103120"/>
            <a:ext cx="233100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u="none" strike="noStrike" cap="none">
                <a:solidFill>
                  <a:srgbClr val="0F766E"/>
                </a:solidFill>
                <a:latin typeface="Cambria"/>
                <a:ea typeface="Cambria"/>
                <a:cs typeface="Cambria"/>
                <a:sym typeface="Cambria"/>
              </a:rPr>
              <a:t>¿qué dicen los números?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429000" y="3017520"/>
            <a:ext cx="2331000" cy="127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Análisis cuantitativo determinístico: estadísticas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y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umbrales ADA.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035040" y="1371600"/>
            <a:ext cx="2651040" cy="30168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217920" y="1554480"/>
            <a:ext cx="2285280" cy="365040"/>
          </a:xfrm>
          <a:prstGeom prst="roundRect">
            <a:avLst>
              <a:gd name="adj" fmla="val 12500"/>
            </a:avLst>
          </a:prstGeom>
          <a:solidFill>
            <a:srgbClr val="115E59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217920" y="1554480"/>
            <a:ext cx="22852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CLÍNICO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217920" y="2103120"/>
            <a:ext cx="233100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u="none" strike="noStrike" cap="none">
                <a:solidFill>
                  <a:srgbClr val="115E59"/>
                </a:solidFill>
                <a:latin typeface="Cambria"/>
                <a:ea typeface="Cambria"/>
                <a:cs typeface="Cambria"/>
                <a:sym typeface="Cambria"/>
              </a:rPr>
              <a:t>¿qué significan?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217920" y="3017520"/>
            <a:ext cx="2331000" cy="127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Interpreta los hallazgos con historial del paciente y guías clínicas vía RAG.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Coordinados por LangGraph · razonamiento con patrón ReAct · LLM con temperatura 0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2  ·  ARQUITECTURA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Diagrama general del sistema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57200" y="1280160"/>
            <a:ext cx="1370880" cy="5479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1280160"/>
            <a:ext cx="1370880" cy="54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Médico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1828800" y="1554480"/>
            <a:ext cx="1097280" cy="36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2" name="Google Shape;152;p7"/>
          <p:cNvSpPr/>
          <p:nvPr/>
        </p:nvSpPr>
        <p:spPr>
          <a:xfrm>
            <a:off x="2926080" y="1234440"/>
            <a:ext cx="1828080" cy="63936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>
            <a:noFill/>
          </a:ln>
          <a:effectLst>
            <a:outerShdw blurRad="101520" dist="25560" dir="5400000" algn="bl" rotWithShape="0">
              <a:srgbClr val="0F172A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926080" y="1234440"/>
            <a:ext cx="18280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Orquestador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7"/>
          <p:cNvCxnSpPr/>
          <p:nvPr/>
        </p:nvCxnSpPr>
        <p:spPr>
          <a:xfrm>
            <a:off x="3840480" y="1874520"/>
            <a:ext cx="360" cy="50292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5" name="Google Shape;155;p7"/>
          <p:cNvSpPr/>
          <p:nvPr/>
        </p:nvSpPr>
        <p:spPr>
          <a:xfrm>
            <a:off x="2926080" y="2423160"/>
            <a:ext cx="1828080" cy="63936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>
            <a:noFill/>
          </a:ln>
          <a:effectLst>
            <a:outerShdw blurRad="101520" dist="25560" dir="5400000" algn="bl" rotWithShape="0">
              <a:srgbClr val="0F172A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926080" y="2423160"/>
            <a:ext cx="18280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3840480" y="3063240"/>
            <a:ext cx="360" cy="50292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8" name="Google Shape;158;p7"/>
          <p:cNvSpPr/>
          <p:nvPr/>
        </p:nvSpPr>
        <p:spPr>
          <a:xfrm>
            <a:off x="3931920" y="320040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hallazgos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926080" y="3611880"/>
            <a:ext cx="1828080" cy="639360"/>
          </a:xfrm>
          <a:prstGeom prst="roundRect">
            <a:avLst>
              <a:gd name="adj" fmla="val 11429"/>
            </a:avLst>
          </a:prstGeom>
          <a:solidFill>
            <a:srgbClr val="115E59"/>
          </a:solidFill>
          <a:ln>
            <a:noFill/>
          </a:ln>
          <a:effectLst>
            <a:outerShdw blurRad="101520" dist="25560" dir="5400000" algn="bl" rotWithShape="0">
              <a:srgbClr val="0F172A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926080" y="3611880"/>
            <a:ext cx="18280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Clínico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2834640" y="3931920"/>
            <a:ext cx="360" cy="360"/>
          </a:xfrm>
          <a:prstGeom prst="straightConnector1">
            <a:avLst/>
          </a:prstGeom>
          <a:noFill/>
          <a:ln w="19050" cap="flat" cmpd="sng">
            <a:solidFill>
              <a:srgbClr val="DC2626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62" name="Google Shape;162;p7"/>
          <p:cNvSpPr/>
          <p:nvPr/>
        </p:nvSpPr>
        <p:spPr>
          <a:xfrm>
            <a:off x="457200" y="2331720"/>
            <a:ext cx="22852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1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refinar  si  !sufficient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400800" y="1280160"/>
            <a:ext cx="1645200" cy="639360"/>
          </a:xfrm>
          <a:prstGeom prst="roundRect">
            <a:avLst>
              <a:gd name="adj" fmla="val 11429"/>
            </a:avLst>
          </a:prstGeom>
          <a:solidFill>
            <a:srgbClr val="60A5FA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400800" y="1280160"/>
            <a:ext cx="164520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EHR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paciente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7"/>
          <p:cNvCxnSpPr/>
          <p:nvPr/>
        </p:nvCxnSpPr>
        <p:spPr>
          <a:xfrm>
            <a:off x="4754880" y="1600200"/>
            <a:ext cx="1645920" cy="360"/>
          </a:xfrm>
          <a:prstGeom prst="straightConnector1">
            <a:avLst/>
          </a:prstGeom>
          <a:noFill/>
          <a:ln w="12700" cap="flat" cmpd="sng">
            <a:solidFill>
              <a:srgbClr val="64748B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6" name="Google Shape;166;p7"/>
          <p:cNvSpPr/>
          <p:nvPr/>
        </p:nvSpPr>
        <p:spPr>
          <a:xfrm>
            <a:off x="6400800" y="2423160"/>
            <a:ext cx="1645200" cy="639360"/>
          </a:xfrm>
          <a:prstGeom prst="roundRect">
            <a:avLst>
              <a:gd name="adj" fmla="val 11429"/>
            </a:avLst>
          </a:prstGeom>
          <a:solidFill>
            <a:srgbClr val="A78BFA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400800" y="2423160"/>
            <a:ext cx="164520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historial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4754880" y="2743200"/>
            <a:ext cx="1645920" cy="360"/>
          </a:xfrm>
          <a:prstGeom prst="straightConnector1">
            <a:avLst/>
          </a:prstGeom>
          <a:noFill/>
          <a:ln w="12700" cap="flat" cmpd="sng">
            <a:solidFill>
              <a:srgbClr val="64748B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9" name="Google Shape;169;p7"/>
          <p:cNvSpPr/>
          <p:nvPr/>
        </p:nvSpPr>
        <p:spPr>
          <a:xfrm>
            <a:off x="6400800" y="3611880"/>
            <a:ext cx="1645200" cy="639360"/>
          </a:xfrm>
          <a:prstGeom prst="roundRect">
            <a:avLst>
              <a:gd name="adj" fmla="val 11429"/>
            </a:avLst>
          </a:prstGeom>
          <a:solidFill>
            <a:srgbClr val="F472B6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400800" y="3611880"/>
            <a:ext cx="164520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guías (RAG)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7"/>
          <p:cNvCxnSpPr/>
          <p:nvPr/>
        </p:nvCxnSpPr>
        <p:spPr>
          <a:xfrm>
            <a:off x="4754880" y="3931920"/>
            <a:ext cx="1645920" cy="360"/>
          </a:xfrm>
          <a:prstGeom prst="straightConnector1">
            <a:avLst/>
          </a:prstGeom>
          <a:noFill/>
          <a:ln w="12700" cap="flat" cmpd="sng">
            <a:solidFill>
              <a:srgbClr val="64748B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72" name="Google Shape;172;p7"/>
          <p:cNvSpPr/>
          <p:nvPr/>
        </p:nvSpPr>
        <p:spPr>
          <a:xfrm>
            <a:off x="5029200" y="4434840"/>
            <a:ext cx="3656880" cy="36504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029200" y="4434840"/>
            <a:ext cx="36568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Reporte estructurado: alertas + tendencias + preguntas de seguimiento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57200" y="2743200"/>
            <a:ext cx="2285280" cy="150804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94360" y="2834640"/>
            <a:ext cx="2056680" cy="137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Estado compartido entre nodos.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¿Por qué?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 flujo requiere ciclos condicionales — no es un pipeline lineal.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2  ·  ARQUITECTURA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¿Por qué un orquestador explícito?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57200" y="1371600"/>
            <a:ext cx="4022640" cy="24681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85800" y="1463040"/>
            <a:ext cx="9136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4B8A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85800" y="1965960"/>
            <a:ext cx="361116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Enrutamiento selectivo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85800" y="2423160"/>
            <a:ext cx="3611160" cy="137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toda consulta del médico requiere el pipeline completo Monitor → Clínico. Una pregunta de seguimiento sobre un reporte ya generado va directo al Clínico, sin recalcular.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663440" y="1371600"/>
            <a:ext cx="4022640" cy="24681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892040" y="1463040"/>
            <a:ext cx="9136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4B8A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892040" y="1965960"/>
            <a:ext cx="361116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Loop de refinamiento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777713" y="2423150"/>
            <a:ext cx="37941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 el Clínico considera que la información del Monitor no alcanza para interpretar un hallazgo (information_sufficient)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el orquestador devuelve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el control al Monitor para ampliar el análisis — hasta 3 iteraciones.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4023360"/>
            <a:ext cx="8228880" cy="639360"/>
          </a:xfrm>
          <a:prstGeom prst="roundRect">
            <a:avLst>
              <a:gd name="adj" fmla="val 11429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31520" y="4069080"/>
            <a:ext cx="7771680" cy="54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Decisión de diseño:  </a:t>
            </a:r>
            <a:r>
              <a:rPr lang="en-US" sz="120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estas dos capacidades juntas justifican que el orquestador sea un componente propio, y no transiciones fijas embebidas en el grafo.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2  ·  ARQUITECTURA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¿Cómo infiere la intención?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1143000"/>
            <a:ext cx="8228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 orquestador lee el mensaje del médico + el estado de la sesión, y elige el camino sin usar </a:t>
            </a:r>
            <a:r>
              <a:rPr lang="en-US" sz="12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comandos</a:t>
            </a:r>
            <a:r>
              <a:rPr lang="en-US" sz="12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explícitos:</a:t>
            </a:r>
            <a:endParaRPr sz="12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57200" y="1600200"/>
            <a:ext cx="8228880" cy="410760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40080" y="1600200"/>
            <a:ext cx="393120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Situación detectada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663440" y="1600200"/>
            <a:ext cx="393120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Camino que toma el orquestador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57200" y="2057400"/>
            <a:ext cx="8228880" cy="502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40080" y="2057400"/>
            <a:ext cx="39312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Consulta nueva (sin reporte previo)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663440" y="2057400"/>
            <a:ext cx="39312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Flujo completo: Monitor → Clínico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57200" y="2560320"/>
            <a:ext cx="8228880" cy="5022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640080" y="2560320"/>
            <a:ext cx="39312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Pregunta de seguimiento (con reporte)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663440" y="2560320"/>
            <a:ext cx="39312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Directo al Clínico, sin recalcular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57200" y="3063240"/>
            <a:ext cx="8228880" cy="502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40080" y="3063240"/>
            <a:ext cx="39312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Pedido de reiniciar / nuevo paciente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663440" y="3063240"/>
            <a:ext cx="39312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Limpia el estado y vuelve a empezar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57200" y="3566160"/>
            <a:ext cx="8228880" cy="5022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40080" y="3566160"/>
            <a:ext cx="39312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Mensaje ambiguo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663440" y="3566160"/>
            <a:ext cx="39312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Pide aclaración antes de proceder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57200" y="425196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→  La intención se infiere; el médico no aprende sintaxis de comandos.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Decisión deliberada: trasladar la responsabilidad del enrutamiento desde el usuario hacia el sistema.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2  ·  ARQUITECTURA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Flujo de interacción médico-sistema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57200" y="1463040"/>
            <a:ext cx="1279440" cy="2376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868680" y="1600200"/>
            <a:ext cx="456480" cy="456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868680" y="160020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502920" y="2148840"/>
            <a:ext cx="1188000" cy="86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Selección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 paciente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02920" y="3063240"/>
            <a:ext cx="11880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Carga del EHR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10"/>
          <p:cNvCxnSpPr/>
          <p:nvPr/>
        </p:nvCxnSpPr>
        <p:spPr>
          <a:xfrm>
            <a:off x="1737360" y="2606040"/>
            <a:ext cx="91440" cy="360"/>
          </a:xfrm>
          <a:prstGeom prst="straightConnector1">
            <a:avLst/>
          </a:prstGeom>
          <a:noFill/>
          <a:ln w="19050" cap="flat" cmpd="sng">
            <a:solidFill>
              <a:srgbClr val="14B8A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7" name="Google Shape;237;p10"/>
          <p:cNvSpPr/>
          <p:nvPr/>
        </p:nvSpPr>
        <p:spPr>
          <a:xfrm>
            <a:off x="1828800" y="1463040"/>
            <a:ext cx="1279440" cy="2376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2240280" y="1600200"/>
            <a:ext cx="456480" cy="456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2240280" y="160020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1874520" y="2148840"/>
            <a:ext cx="1188000" cy="86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Revisión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 perfil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1874520" y="3063240"/>
            <a:ext cx="11880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Resumen previo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10"/>
          <p:cNvCxnSpPr/>
          <p:nvPr/>
        </p:nvCxnSpPr>
        <p:spPr>
          <a:xfrm>
            <a:off x="3108960" y="2606040"/>
            <a:ext cx="91440" cy="360"/>
          </a:xfrm>
          <a:prstGeom prst="straightConnector1">
            <a:avLst/>
          </a:prstGeom>
          <a:noFill/>
          <a:ln w="19050" cap="flat" cmpd="sng">
            <a:solidFill>
              <a:srgbClr val="14B8A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3" name="Google Shape;243;p10"/>
          <p:cNvSpPr/>
          <p:nvPr/>
        </p:nvSpPr>
        <p:spPr>
          <a:xfrm>
            <a:off x="3200400" y="1463040"/>
            <a:ext cx="1279440" cy="2376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3611880" y="1600200"/>
            <a:ext cx="456480" cy="456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611880" y="160020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3246120" y="2148840"/>
            <a:ext cx="1188000" cy="86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Orientación +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contexto adicional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246120" y="3063240"/>
            <a:ext cx="11880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Opcionales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10"/>
          <p:cNvCxnSpPr/>
          <p:nvPr/>
        </p:nvCxnSpPr>
        <p:spPr>
          <a:xfrm>
            <a:off x="4480560" y="2606040"/>
            <a:ext cx="91440" cy="360"/>
          </a:xfrm>
          <a:prstGeom prst="straightConnector1">
            <a:avLst/>
          </a:prstGeom>
          <a:noFill/>
          <a:ln w="19050" cap="flat" cmpd="sng">
            <a:solidFill>
              <a:srgbClr val="14B8A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9" name="Google Shape;249;p10"/>
          <p:cNvSpPr/>
          <p:nvPr/>
        </p:nvSpPr>
        <p:spPr>
          <a:xfrm>
            <a:off x="4572000" y="1463040"/>
            <a:ext cx="1279440" cy="2376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983480" y="1600200"/>
            <a:ext cx="456480" cy="456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983480" y="160020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617720" y="2148840"/>
            <a:ext cx="1188000" cy="86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Ejecución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 agentes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617720" y="3063240"/>
            <a:ext cx="11880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Monitor → Clínico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10"/>
          <p:cNvCxnSpPr/>
          <p:nvPr/>
        </p:nvCxnSpPr>
        <p:spPr>
          <a:xfrm>
            <a:off x="5852160" y="2606040"/>
            <a:ext cx="91440" cy="360"/>
          </a:xfrm>
          <a:prstGeom prst="straightConnector1">
            <a:avLst/>
          </a:prstGeom>
          <a:noFill/>
          <a:ln w="19050" cap="flat" cmpd="sng">
            <a:solidFill>
              <a:srgbClr val="14B8A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5" name="Google Shape;255;p10"/>
          <p:cNvSpPr/>
          <p:nvPr/>
        </p:nvSpPr>
        <p:spPr>
          <a:xfrm>
            <a:off x="5943600" y="1463040"/>
            <a:ext cx="1279440" cy="2376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6355080" y="1600200"/>
            <a:ext cx="456480" cy="456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355080" y="160020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989320" y="2148840"/>
            <a:ext cx="1188000" cy="86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Revisión +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chat de seguimiento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989320" y="3063240"/>
            <a:ext cx="11880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Q&amp;A acotado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10"/>
          <p:cNvCxnSpPr/>
          <p:nvPr/>
        </p:nvCxnSpPr>
        <p:spPr>
          <a:xfrm>
            <a:off x="7223760" y="2606040"/>
            <a:ext cx="91440" cy="360"/>
          </a:xfrm>
          <a:prstGeom prst="straightConnector1">
            <a:avLst/>
          </a:prstGeom>
          <a:noFill/>
          <a:ln w="19050" cap="flat" cmpd="sng">
            <a:solidFill>
              <a:srgbClr val="14B8A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1" name="Google Shape;261;p10"/>
          <p:cNvSpPr/>
          <p:nvPr/>
        </p:nvSpPr>
        <p:spPr>
          <a:xfrm>
            <a:off x="7315200" y="1463040"/>
            <a:ext cx="1279440" cy="2376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7726680" y="1600200"/>
            <a:ext cx="456480" cy="456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7726680" y="1600200"/>
            <a:ext cx="4564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7360920" y="2148840"/>
            <a:ext cx="1188000" cy="86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Cierre +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confirmación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360920" y="3063240"/>
            <a:ext cx="11880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Guardado explícito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57200" y="4114800"/>
            <a:ext cx="8228880" cy="5479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731520" y="4160520"/>
            <a:ext cx="768024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⚠  </a:t>
            </a:r>
            <a:r>
              <a:rPr lang="en-US" sz="120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El guardado en el historial NUNCA es automático: requiere confirmación explícita del médico.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3  ·  AGENTES Y HERRAMIENTAS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Agente Monitor — el que trabaja los números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457200" y="1371600"/>
            <a:ext cx="3931200" cy="3291120"/>
          </a:xfrm>
          <a:prstGeom prst="roundRect">
            <a:avLst>
              <a:gd name="adj" fmla="val 2222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85800" y="1508760"/>
            <a:ext cx="356544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Rol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685800" y="1828800"/>
            <a:ext cx="3565440" cy="54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Análisis cuantitativo estricto. No interpreta, solo reporta.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685800" y="2423160"/>
            <a:ext cx="356544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777240" y="2743200"/>
            <a:ext cx="3519720" cy="182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Noto Sans Symbols"/>
              <a:buChar char="∙"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Tools 100% determinísticas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Noto Sans Symbols"/>
              <a:buChar char="∙"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Salida tipada con Pydantic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Noto Sans Symbols"/>
              <a:buChar char="∙"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Razonamiento ReAct (máx. 20 pasos)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Noto Sans Symbols"/>
              <a:buChar char="∙"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LLM con temperature=0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617720" y="1371600"/>
            <a:ext cx="4068360" cy="32911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846320" y="1508760"/>
            <a:ext cx="36111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Salida: MonitorAnalysis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4846320" y="1828800"/>
            <a:ext cx="3611160" cy="86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Objeto Pydantic ensamblado de forma determinística a partir de los resultados acumulados de las tools — no depende de que el LLM devuelva JSON bien formado.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4846320" y="2743200"/>
            <a:ext cx="361116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Contiene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4937760" y="3017520"/>
            <a:ext cx="3656880" cy="1599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Symbols"/>
              <a:buChar char="∙"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Estadísticas por métrica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Symbols"/>
              <a:buChar char="∙"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Alertas detectadas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Symbols"/>
              <a:buChar char="∙"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Medicación activa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Symbols"/>
              <a:buChar char="∙"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Banderas: requires_rag, requires_longitudinal_comparison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3  ·  AGENTES Y HERRAMIENTAS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Tools del Monitor (4 reales) + umbrales ADA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57200" y="1691640"/>
            <a:ext cx="4205520" cy="365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594360" y="1691640"/>
            <a:ext cx="1873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load_patient_data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2468880" y="1691640"/>
            <a:ext cx="21481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Carga el historial completo del paciente desde el EHR.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57200" y="2148840"/>
            <a:ext cx="4205520" cy="36504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94360" y="2148840"/>
            <a:ext cx="1873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calculate_stats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2468880" y="2148840"/>
            <a:ext cx="21481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Por métrica: último valor, media, mín, máx, delta, tendencia.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57200" y="2606040"/>
            <a:ext cx="4205520" cy="365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594360" y="2606040"/>
            <a:ext cx="1873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detect_violations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2468880" y="2606040"/>
            <a:ext cx="21481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Compara cada valor contra umbrales ADA (alta y baja).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57200" y="3063240"/>
            <a:ext cx="4205520" cy="36504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594360" y="3063240"/>
            <a:ext cx="1873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get_medication_schedule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2468880" y="3063240"/>
            <a:ext cx="21481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Medicación activa con dosis y frecuencia.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4846320" y="1554480"/>
            <a:ext cx="383976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Umbrales ADA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4846320" y="1874520"/>
            <a:ext cx="3839760" cy="319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846325" y="1874525"/>
            <a:ext cx="40341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6355080" y="187452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7178040" y="187452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Alerta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8046720" y="1874520"/>
            <a:ext cx="8679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4846320" y="2194560"/>
            <a:ext cx="3839760" cy="319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846320" y="2194560"/>
            <a:ext cx="15081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Gluc. ayunas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6355080" y="219456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&lt; 100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7178040" y="219456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100-125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8046720" y="219456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≥ 126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846320" y="2514600"/>
            <a:ext cx="3839760" cy="3193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846320" y="2514600"/>
            <a:ext cx="150804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HbA1c (%)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6355080" y="251460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&lt; 5.7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7178040" y="251460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5.7-6.4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8046720" y="251460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≥ 6.5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846320" y="2834640"/>
            <a:ext cx="3839760" cy="3193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846320" y="2834640"/>
            <a:ext cx="150804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Gluc. postpr.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6355080" y="283464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&lt; 140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7178040" y="283464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140-199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8046720" y="283464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≥ 200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846320" y="3154680"/>
            <a:ext cx="3839760" cy="3193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846320" y="3154680"/>
            <a:ext cx="150804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Hipoglucemia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6355080" y="315468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7178040" y="315468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70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8046720" y="3154680"/>
            <a:ext cx="8679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50" tIns="38150" rIns="38150" bIns="38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54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3  ·  AGENTES Y HERRAMIENTAS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Agente Clínico — el que interpreta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457200" y="1325880"/>
            <a:ext cx="8228880" cy="685080"/>
          </a:xfrm>
          <a:prstGeom prst="roundRect">
            <a:avLst>
              <a:gd name="adj" fmla="val 10667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731520" y="1417320"/>
            <a:ext cx="7680240" cy="54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Recibe el MonitorAnalysis e interpreta los hallazgos </a:t>
            </a:r>
            <a:r>
              <a:rPr lang="en-US" sz="12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integrando historial acumulativo del paciente + comparación longitudinal + guías clínicas vía RAG</a:t>
            </a: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incorporando el contexto adicional del médico para modular las búsquedas.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57200" y="2148840"/>
            <a:ext cx="40226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640080" y="2240280"/>
            <a:ext cx="31082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get_patient_history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3566160" y="2240280"/>
            <a:ext cx="776520" cy="246240"/>
          </a:xfrm>
          <a:prstGeom prst="roundRect">
            <a:avLst>
              <a:gd name="adj" fmla="val 14815"/>
            </a:avLst>
          </a:prstGeom>
          <a:solidFill>
            <a:srgbClr val="A78BFA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3566160" y="2240280"/>
            <a:ext cx="776520" cy="24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640080" y="2560320"/>
            <a:ext cx="3656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Recupera documento íntegro del paciente desde MongoDB.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663440" y="2148840"/>
            <a:ext cx="40226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4846320" y="2240280"/>
            <a:ext cx="31082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compare_with_previous_sessions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7772400" y="2240280"/>
            <a:ext cx="776520" cy="246240"/>
          </a:xfrm>
          <a:prstGeom prst="roundRect">
            <a:avLst>
              <a:gd name="adj" fmla="val 14815"/>
            </a:avLst>
          </a:prstGeom>
          <a:solidFill>
            <a:srgbClr val="A78BFA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7772400" y="2240280"/>
            <a:ext cx="776520" cy="24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846320" y="2560320"/>
            <a:ext cx="3656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Deltas por métrica vs. sesión anterior. Determinístico.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457200" y="3291840"/>
            <a:ext cx="40226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640080" y="3383280"/>
            <a:ext cx="31082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search_clinical_guidelines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3566160" y="3383280"/>
            <a:ext cx="776520" cy="246240"/>
          </a:xfrm>
          <a:prstGeom prst="roundRect">
            <a:avLst>
              <a:gd name="adj" fmla="val 14815"/>
            </a:avLst>
          </a:prstGeom>
          <a:solidFill>
            <a:srgbClr val="F472B6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3566160" y="3383280"/>
            <a:ext cx="776520" cy="24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640080" y="3703320"/>
            <a:ext cx="3656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Búsqueda semántica top-k=3 sobre las guías indexadas.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663440" y="3291840"/>
            <a:ext cx="40226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4846320" y="3383280"/>
            <a:ext cx="31082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rPr>
              <a:t>update_patient_history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7772400" y="3383280"/>
            <a:ext cx="776520" cy="246240"/>
          </a:xfrm>
          <a:prstGeom prst="roundRect">
            <a:avLst>
              <a:gd name="adj" fmla="val 14815"/>
            </a:avLst>
          </a:prstGeom>
          <a:solidFill>
            <a:srgbClr val="A78BFA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7772400" y="3383280"/>
            <a:ext cx="776520" cy="24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846320" y="3703320"/>
            <a:ext cx="3656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Guarda la sesión. Solo con confirmación explícita del médico.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457200" y="4526280"/>
            <a:ext cx="82288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Dos modos: REPORTE (después del Monitor) · SEGUIMIENTO (Q&amp;A sobre el reporte ya generado)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3  ·  AGENTES Y HERRAMIENTAS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Patrón ReAct: Reasoning + Acting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1234440" y="1280160"/>
            <a:ext cx="3016800" cy="3016800"/>
          </a:xfrm>
          <a:prstGeom prst="ellipse">
            <a:avLst/>
          </a:prstGeom>
          <a:noFill/>
          <a:ln w="12700" cap="flat" cmpd="sng">
            <a:solidFill>
              <a:srgbClr val="E2E8F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3154680" y="2423160"/>
            <a:ext cx="1096560" cy="7308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>
            <a:outerShdw blurRad="101520" dist="25560" dir="5400000" algn="bl" rotWithShape="0">
              <a:srgbClr val="0F172A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3154680" y="2423160"/>
            <a:ext cx="109656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sng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Razona</a:t>
            </a:r>
            <a:endParaRPr sz="9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necesito ahora?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2194560" y="3383280"/>
            <a:ext cx="1096560" cy="730800"/>
          </a:xfrm>
          <a:prstGeom prst="roundRect">
            <a:avLst>
              <a:gd name="adj" fmla="val 10000"/>
            </a:avLst>
          </a:prstGeom>
          <a:solidFill>
            <a:srgbClr val="115E59"/>
          </a:solidFill>
          <a:ln>
            <a:noFill/>
          </a:ln>
          <a:effectLst>
            <a:outerShdw blurRad="101520" dist="25560" dir="5400000" algn="bl" rotWithShape="0">
              <a:srgbClr val="0F172A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2194560" y="3383280"/>
            <a:ext cx="109656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sng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Actúa</a:t>
            </a:r>
            <a:endParaRPr sz="9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llama a la tool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1234440" y="2423160"/>
            <a:ext cx="1096560" cy="7308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>
            <a:outerShdw blurRad="101520" dist="25560" dir="5400000" algn="bl" rotWithShape="0">
              <a:srgbClr val="0F172A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1234440" y="2423160"/>
            <a:ext cx="109656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sng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</a:t>
            </a:r>
            <a:endParaRPr sz="9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lee el resultado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2194560" y="1463040"/>
            <a:ext cx="1096560" cy="7308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>
            <a:outerShdw blurRad="101520" dist="25560" dir="5400000" algn="bl" rotWithShape="0">
              <a:srgbClr val="0F172A">
                <a:alpha val="10196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2194560" y="1463040"/>
            <a:ext cx="109656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sng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Decide</a:t>
            </a:r>
            <a:endParaRPr sz="9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¿sigo o termino?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2194560" y="2624400"/>
            <a:ext cx="109656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115E59"/>
                </a:solidFill>
                <a:latin typeface="Cambria"/>
                <a:ea typeface="Cambria"/>
                <a:cs typeface="Cambria"/>
                <a:sym typeface="Cambria"/>
              </a:rPr>
              <a:t>ReAct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5029200" y="1325880"/>
            <a:ext cx="3656880" cy="3382560"/>
          </a:xfrm>
          <a:prstGeom prst="roundRect">
            <a:avLst>
              <a:gd name="adj" fmla="val 2162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5212080" y="1417320"/>
            <a:ext cx="33825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¿Por qué ReAct?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5212080" y="1783080"/>
            <a:ext cx="338256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 recorrido del análisis NO es fijo: depende de lo que cada agente observa.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5212080" y="2606040"/>
            <a:ext cx="338256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5303520" y="2880360"/>
            <a:ext cx="3291120" cy="14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Noto Sans Symbols"/>
              <a:buChar char="∙"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Monitor: elige métricas y ventana temporal según la consulta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Noto Sans Symbols"/>
              <a:buChar char="∙"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Clínico: decide invocar RAG o comparación longitudinal según las banderas del Monitor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457200" y="4160520"/>
            <a:ext cx="4205520" cy="5479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640080" y="4160520"/>
            <a:ext cx="3839760" cy="54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Topes de seguridad: 20 pasos Monitor · 10 pasos Clínico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3  ·  AGENTES Y HERRAMIENTAS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Memoria: dos niveles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457200" y="1325880"/>
            <a:ext cx="4022640" cy="3382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640080" y="1463040"/>
            <a:ext cx="1690920" cy="365040"/>
          </a:xfrm>
          <a:prstGeom prst="roundRect">
            <a:avLst>
              <a:gd name="adj" fmla="val 12500"/>
            </a:avLst>
          </a:prstGeom>
          <a:solidFill>
            <a:srgbClr val="14B8A6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640080" y="1463040"/>
            <a:ext cx="16909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SHORT-TERM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640080" y="1920240"/>
            <a:ext cx="36568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Memoria de sesión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640080" y="2331720"/>
            <a:ext cx="3656880" cy="91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Estado nativo del grafo LangGraph (AgentState, TypedDict). Persistencia entre turnos con MemorySaver.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731520" y="3291840"/>
            <a:ext cx="365688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Symbols"/>
              <a:buChar char="∙"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Paciente activo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Symbols"/>
              <a:buChar char="∙"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Métricas calculadas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Symbols"/>
              <a:buChar char="∙"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Historial de conversación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4663440" y="1325880"/>
            <a:ext cx="4022640" cy="3382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4846320" y="1463040"/>
            <a:ext cx="1690920" cy="365040"/>
          </a:xfrm>
          <a:prstGeom prst="roundRect">
            <a:avLst>
              <a:gd name="adj" fmla="val 12500"/>
            </a:avLst>
          </a:prstGeom>
          <a:solidFill>
            <a:srgbClr val="115E59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4846320" y="1463040"/>
            <a:ext cx="16909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LONG-TERM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4846320" y="1920240"/>
            <a:ext cx="36568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Memoria persistente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4846320" y="2331720"/>
            <a:ext cx="3656880" cy="91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Historial acumulativo del paciente en MongoDB. Un documento por paciente, recuperable por DNI o ID interno.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4937760" y="3291840"/>
            <a:ext cx="365688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Symbols"/>
              <a:buChar char="∙"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Datos demográficos + comorbilidades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Symbols"/>
              <a:buChar char="∙"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Sesiones previas estructuradas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Symbols"/>
              <a:buChar char="∙"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Escritura solo con confirmación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3  ·  AGENTES Y HERRAMIENTAS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RAG sobre guías clínicas oficiales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457200" y="1371600"/>
            <a:ext cx="155376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1024200" y="1508760"/>
            <a:ext cx="410760" cy="4107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1024200" y="1508760"/>
            <a:ext cx="41076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548640" y="1965960"/>
            <a:ext cx="1370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Markdown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 guías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548640" y="2286000"/>
            <a:ext cx="13708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ADA, SAD,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MSAL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17"/>
          <p:cNvCxnSpPr/>
          <p:nvPr/>
        </p:nvCxnSpPr>
        <p:spPr>
          <a:xfrm>
            <a:off x="2011680" y="2057400"/>
            <a:ext cx="127800" cy="360"/>
          </a:xfrm>
          <a:prstGeom prst="straightConnector1">
            <a:avLst/>
          </a:prstGeom>
          <a:noFill/>
          <a:ln w="19050" cap="flat" cmpd="sng">
            <a:solidFill>
              <a:srgbClr val="14B8A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8" name="Google Shape;428;p17"/>
          <p:cNvSpPr/>
          <p:nvPr/>
        </p:nvSpPr>
        <p:spPr>
          <a:xfrm>
            <a:off x="2139840" y="1371600"/>
            <a:ext cx="155376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2706480" y="1508760"/>
            <a:ext cx="410760" cy="4107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2706480" y="1508760"/>
            <a:ext cx="41076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2231280" y="1965960"/>
            <a:ext cx="1370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2231280" y="2286000"/>
            <a:ext cx="13708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500 chars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overlap 50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17"/>
          <p:cNvCxnSpPr/>
          <p:nvPr/>
        </p:nvCxnSpPr>
        <p:spPr>
          <a:xfrm>
            <a:off x="3693960" y="2057400"/>
            <a:ext cx="128160" cy="360"/>
          </a:xfrm>
          <a:prstGeom prst="straightConnector1">
            <a:avLst/>
          </a:prstGeom>
          <a:noFill/>
          <a:ln w="19050" cap="flat" cmpd="sng">
            <a:solidFill>
              <a:srgbClr val="14B8A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4" name="Google Shape;434;p17"/>
          <p:cNvSpPr/>
          <p:nvPr/>
        </p:nvSpPr>
        <p:spPr>
          <a:xfrm>
            <a:off x="3822120" y="1371600"/>
            <a:ext cx="155376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4389120" y="1508760"/>
            <a:ext cx="410760" cy="410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4389120" y="1508760"/>
            <a:ext cx="41076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3913560" y="1965960"/>
            <a:ext cx="1370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3913560" y="2286000"/>
            <a:ext cx="13708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nomic-embed-text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768d · Ollama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17"/>
          <p:cNvCxnSpPr/>
          <p:nvPr/>
        </p:nvCxnSpPr>
        <p:spPr>
          <a:xfrm>
            <a:off x="5376600" y="2057400"/>
            <a:ext cx="127800" cy="360"/>
          </a:xfrm>
          <a:prstGeom prst="straightConnector1">
            <a:avLst/>
          </a:prstGeom>
          <a:noFill/>
          <a:ln w="19050" cap="flat" cmpd="sng">
            <a:solidFill>
              <a:srgbClr val="14B8A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0" name="Google Shape;440;p17"/>
          <p:cNvSpPr/>
          <p:nvPr/>
        </p:nvSpPr>
        <p:spPr>
          <a:xfrm>
            <a:off x="5504760" y="1371600"/>
            <a:ext cx="155376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6071760" y="1508760"/>
            <a:ext cx="410760" cy="41076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6071760" y="1508760"/>
            <a:ext cx="41076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5596200" y="1965960"/>
            <a:ext cx="1370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5596200" y="2286000"/>
            <a:ext cx="13708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coseno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" name="Google Shape;445;p17"/>
          <p:cNvCxnSpPr/>
          <p:nvPr/>
        </p:nvCxnSpPr>
        <p:spPr>
          <a:xfrm>
            <a:off x="7058880" y="2057400"/>
            <a:ext cx="128160" cy="360"/>
          </a:xfrm>
          <a:prstGeom prst="straightConnector1">
            <a:avLst/>
          </a:prstGeom>
          <a:noFill/>
          <a:ln w="19050" cap="flat" cmpd="sng">
            <a:solidFill>
              <a:srgbClr val="14B8A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6" name="Google Shape;446;p17"/>
          <p:cNvSpPr/>
          <p:nvPr/>
        </p:nvSpPr>
        <p:spPr>
          <a:xfrm>
            <a:off x="7187040" y="1371600"/>
            <a:ext cx="155376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7754040" y="1508760"/>
            <a:ext cx="410760" cy="4107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7754040" y="1508760"/>
            <a:ext cx="410760" cy="41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7278480" y="1965960"/>
            <a:ext cx="1370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Retriever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7278480" y="2286000"/>
            <a:ext cx="13708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top-k = 3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 fuente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457200" y="301752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Fuentes indexadas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457200" y="3337560"/>
            <a:ext cx="2651040" cy="9136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594360" y="3429000"/>
            <a:ext cx="1370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ADA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594360" y="3749040"/>
            <a:ext cx="23767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Standards of Medical Care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594360" y="4023360"/>
            <a:ext cx="237672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Estándar internacional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3246120" y="3337560"/>
            <a:ext cx="2651040" cy="9136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3383280" y="3429000"/>
            <a:ext cx="1370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SAD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3383280" y="3749040"/>
            <a:ext cx="23767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Sociedad Argentina de Diabetes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3383280" y="4023360"/>
            <a:ext cx="237672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Guías locales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6035040" y="3337560"/>
            <a:ext cx="2651040" cy="9136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6172200" y="3429000"/>
            <a:ext cx="1370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MSAL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6172200" y="3749040"/>
            <a:ext cx="23767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Ministerio de Salud Argentina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6172200" y="4023360"/>
            <a:ext cx="237672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Guía nacional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457200" y="438912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Cada fragmento se prefija con su archivo fuente — el Clínico cita obligatoriamente la guía en el reporte.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8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4  ·  CONTROL Y EJECUCIÓN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Observabilidad — inspeccionar cada paso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457200" y="1371600"/>
            <a:ext cx="2651040" cy="2010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1325880" y="1554480"/>
            <a:ext cx="913680" cy="639360"/>
          </a:xfrm>
          <a:prstGeom prst="roundRect">
            <a:avLst>
              <a:gd name="adj" fmla="val 11429"/>
            </a:avLst>
          </a:prstGeom>
          <a:solidFill>
            <a:srgbClr val="115E59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1325880" y="1554480"/>
            <a:ext cx="9136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&gt;_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548640" y="2286000"/>
            <a:ext cx="24681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CONSOLA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640080" y="2606040"/>
            <a:ext cx="23310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Logs legibles en tiempo real durante la ejecución del grafo.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3246120" y="1371600"/>
            <a:ext cx="2651040" cy="2010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4114800" y="1554480"/>
            <a:ext cx="913680" cy="639360"/>
          </a:xfrm>
          <a:prstGeom prst="roundRect">
            <a:avLst>
              <a:gd name="adj" fmla="val 11429"/>
            </a:avLst>
          </a:prstGeom>
          <a:solidFill>
            <a:srgbClr val="115E59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4114800" y="1554480"/>
            <a:ext cx="9136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3337560" y="2286000"/>
            <a:ext cx="24681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ARCHIVO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3429000" y="2606040"/>
            <a:ext cx="23310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logs/agent.jsonl estructurado con RotatingFileHandler.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6035040" y="1371600"/>
            <a:ext cx="2651040" cy="2010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6903720" y="1554480"/>
            <a:ext cx="913680" cy="639360"/>
          </a:xfrm>
          <a:prstGeom prst="roundRect">
            <a:avLst>
              <a:gd name="adj" fmla="val 11429"/>
            </a:avLst>
          </a:prstGeom>
          <a:solidFill>
            <a:srgbClr val="115E59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6903720" y="1554480"/>
            <a:ext cx="9136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4B8A6"/>
                </a:solidFill>
                <a:latin typeface="Courier New"/>
                <a:ea typeface="Courier New"/>
                <a:cs typeface="Courier New"/>
                <a:sym typeface="Courier New"/>
              </a:rPr>
              <a:t>◧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6126480" y="2286000"/>
            <a:ext cx="246816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GRADIO UI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8"/>
          <p:cNvSpPr/>
          <p:nvPr/>
        </p:nvSpPr>
        <p:spPr>
          <a:xfrm>
            <a:off x="6217920" y="2606040"/>
            <a:ext cx="23310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Pestaña de Observabilidad con traza por consulta: node_start, routing, llm_*, tool_*.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457200" y="3611880"/>
            <a:ext cx="8228880" cy="1005120"/>
          </a:xfrm>
          <a:prstGeom prst="roundRect">
            <a:avLst>
              <a:gd name="adj" fmla="val 7273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640080" y="3703320"/>
            <a:ext cx="78631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Eventos registrados por consulta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640080" y="4023360"/>
            <a:ext cx="7863120" cy="593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node_start  ·  routing  ·  llm_start / llm_end (con conteo de tokens)  ·  tool_start / tool_end (nombre + input + output)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457200" y="4663440"/>
            <a:ext cx="82288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Integrable opcionalmente con LangSmith vía variables de entorno.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5  ·  RESULTADOS Y CIERRE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Testing y Evaluación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457200" y="1371600"/>
            <a:ext cx="4022640" cy="3429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640080" y="1544760"/>
            <a:ext cx="3656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Suite automatizada</a:t>
            </a:r>
            <a:endParaRPr sz="15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640080" y="1828800"/>
            <a:ext cx="3656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Organizados de acuerdo a qué se está validando.</a:t>
            </a:r>
            <a:endParaRPr sz="11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4663440" y="1371600"/>
            <a:ext cx="4022640" cy="3199680"/>
          </a:xfrm>
          <a:prstGeom prst="roundRect">
            <a:avLst>
              <a:gd name="adj" fmla="val 2286"/>
            </a:avLst>
          </a:prstGeom>
          <a:solidFill>
            <a:srgbClr val="FEF3C7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4846320" y="1508760"/>
            <a:ext cx="3656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El matiz clave</a:t>
            </a:r>
            <a:endParaRPr sz="15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4846320" y="1874520"/>
            <a:ext cx="365688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Las invocaciones a tools se validan de forma determinística (entradas y salidas exactas).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4846320" y="2743200"/>
            <a:ext cx="3656880" cy="91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La evaluación cualitativa del sistema se evalúa por inspección manual de los resultados obtenidos, comparando con lo esperado. 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4846320" y="3749040"/>
            <a:ext cx="3656880" cy="68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Es la separación entre capa determinística y capa estocástica, llevada a la evaluación.</a:t>
            </a:r>
            <a:endParaRPr sz="11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732240" y="2150280"/>
            <a:ext cx="338256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Tools de los Agentes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9"/>
          <p:cNvSpPr/>
          <p:nvPr/>
        </p:nvSpPr>
        <p:spPr>
          <a:xfrm>
            <a:off x="640080" y="2139840"/>
            <a:ext cx="3656880" cy="74844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777240" y="2359800"/>
            <a:ext cx="338256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Pruebas enfocadas en verificar el funcionamiento de las tools de los agentes.</a:t>
            </a:r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732240" y="2150280"/>
            <a:ext cx="338256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Tools de los Agentes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649800" y="2984400"/>
            <a:ext cx="3656880" cy="74844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9"/>
          <p:cNvSpPr/>
          <p:nvPr/>
        </p:nvSpPr>
        <p:spPr>
          <a:xfrm>
            <a:off x="786960" y="3204360"/>
            <a:ext cx="338256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Pruebas enfocadas en verificar la conexión entre los componentes del grafo.</a:t>
            </a:r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741960" y="2994840"/>
            <a:ext cx="338256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Pruebas del Grafo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649800" y="3822840"/>
            <a:ext cx="3656880" cy="74844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786960" y="4042800"/>
            <a:ext cx="338256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Ejecución automatizada con un conjunto de ejemplos prearmado para su posterior comparación y evaluación.</a:t>
            </a:r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9"/>
          <p:cNvSpPr/>
          <p:nvPr/>
        </p:nvSpPr>
        <p:spPr>
          <a:xfrm>
            <a:off x="741960" y="3833280"/>
            <a:ext cx="338256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Evaluación Cualitativa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0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5  ·  RESULTADOS Y CIERRE</a:t>
            </a:r>
            <a:endParaRPr sz="11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Evaluación del Sistema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457200" y="1371600"/>
            <a:ext cx="4022640" cy="34290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640080" y="1472760"/>
            <a:ext cx="3656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Ejecución automatizada</a:t>
            </a:r>
            <a:endParaRPr sz="15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640080" y="1828800"/>
            <a:ext cx="3656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 usan ejemplos de los esperado ante ciertas entradas</a:t>
            </a:r>
            <a:endParaRPr sz="11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4663440" y="1371600"/>
            <a:ext cx="4022640" cy="3199680"/>
          </a:xfrm>
          <a:prstGeom prst="roundRect">
            <a:avLst>
              <a:gd name="adj" fmla="val 2286"/>
            </a:avLst>
          </a:prstGeom>
          <a:solidFill>
            <a:srgbClr val="FEF3C7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4846320" y="1508760"/>
            <a:ext cx="3656880" cy="31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Ejecución y Evaluación</a:t>
            </a:r>
            <a:endParaRPr sz="15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4846320" y="1874520"/>
            <a:ext cx="3656880" cy="77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Se ejecutan de forma automatizada múltiples consultas previamente preparadas y guardadas en un dataset.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4846320" y="3103200"/>
            <a:ext cx="3656880" cy="91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Se guardan los resultados en un JSON que luego la UI lee y permite al desarrollador filtrar y comparar fácilmente.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Se compara por cada consulta el resultado obtenido vs el resultado esperado y se lo evalua cualitativamente.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732240" y="2150280"/>
            <a:ext cx="338256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Tools de los Agentes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640080" y="2139840"/>
            <a:ext cx="3656880" cy="74844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777240" y="2359800"/>
            <a:ext cx="338256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Ante consultas bien formadas y datos completos, el sistema debe producir un resultado correcto.</a:t>
            </a:r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732240" y="2150280"/>
            <a:ext cx="338256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Escenarios principales (happy path)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649800" y="2984400"/>
            <a:ext cx="3656880" cy="74844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786960" y="3204360"/>
            <a:ext cx="338256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¿Como se comporta cuando hay información escasa, consultas vagas o información oculta?</a:t>
            </a:r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741960" y="2994840"/>
            <a:ext cx="338256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Casos límite o ambiguos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649800" y="3822840"/>
            <a:ext cx="3656880" cy="74844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786960" y="4042800"/>
            <a:ext cx="338256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debe salir de su propósito ante preguntas fuera de dominio, intentos de manipulación o datos inexistentes.</a:t>
            </a:r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741960" y="3833280"/>
            <a:ext cx="338256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Entradas adversariales o fuera de dominio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1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CONTROL Y EJECUCIÓN</a:t>
            </a:r>
            <a:endParaRPr sz="11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Stack tecnológico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457200" y="1371600"/>
            <a:ext cx="8228880" cy="365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640080" y="1371600"/>
            <a:ext cx="31996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Componente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3931920" y="1371600"/>
            <a:ext cx="475416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Tecnología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457200" y="1737360"/>
            <a:ext cx="8228880" cy="346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640080" y="1737360"/>
            <a:ext cx="319968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Orquestación</a:t>
            </a:r>
            <a:endParaRPr sz="11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3931920" y="1737360"/>
            <a:ext cx="475416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strike="noStrike">
                <a:solidFill>
                  <a:srgbClr val="115E59"/>
                </a:solidFill>
                <a:latin typeface="Courier New"/>
                <a:ea typeface="Courier New"/>
                <a:cs typeface="Courier New"/>
                <a:sym typeface="Courier New"/>
              </a:rPr>
              <a:t>LangGraph + LangChain</a:t>
            </a:r>
            <a:endParaRPr sz="10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457200" y="2084760"/>
            <a:ext cx="8228880" cy="34668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640080" y="2084760"/>
            <a:ext cx="319968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LLM (factory intercambiable)</a:t>
            </a:r>
            <a:endParaRPr sz="11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3931920" y="2084760"/>
            <a:ext cx="475416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strike="noStrike">
                <a:solidFill>
                  <a:srgbClr val="115E59"/>
                </a:solidFill>
                <a:latin typeface="Courier New"/>
                <a:ea typeface="Courier New"/>
                <a:cs typeface="Courier New"/>
                <a:sym typeface="Courier New"/>
              </a:rPr>
              <a:t>Groq · qwen/qwen3-32b · temperature=0</a:t>
            </a:r>
            <a:endParaRPr sz="10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457200" y="2432160"/>
            <a:ext cx="8228880" cy="346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640080" y="2432160"/>
            <a:ext cx="319968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1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3931920" y="2432160"/>
            <a:ext cx="475416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strike="noStrike">
                <a:solidFill>
                  <a:srgbClr val="115E59"/>
                </a:solidFill>
                <a:latin typeface="Courier New"/>
                <a:ea typeface="Courier New"/>
                <a:cs typeface="Courier New"/>
                <a:sym typeface="Courier New"/>
              </a:rPr>
              <a:t>Ollama · nomic-embed-text (768d)</a:t>
            </a:r>
            <a:endParaRPr sz="10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457200" y="2779920"/>
            <a:ext cx="8228880" cy="34668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640080" y="2779920"/>
            <a:ext cx="319968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sz="11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3931920" y="2779920"/>
            <a:ext cx="475416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strike="noStrike">
                <a:solidFill>
                  <a:srgbClr val="115E59"/>
                </a:solidFill>
                <a:latin typeface="Courier New"/>
                <a:ea typeface="Courier New"/>
                <a:cs typeface="Courier New"/>
                <a:sym typeface="Courier New"/>
              </a:rPr>
              <a:t>ChromaDB · distancia coseno</a:t>
            </a:r>
            <a:endParaRPr sz="10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457200" y="3127320"/>
            <a:ext cx="8228880" cy="346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640080" y="3127320"/>
            <a:ext cx="319968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Historial de pacientes</a:t>
            </a:r>
            <a:endParaRPr sz="11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3931920" y="3127320"/>
            <a:ext cx="475416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strike="noStrike">
                <a:solidFill>
                  <a:srgbClr val="115E59"/>
                </a:solidFill>
                <a:latin typeface="Courier New"/>
                <a:ea typeface="Courier New"/>
                <a:cs typeface="Courier New"/>
                <a:sym typeface="Courier New"/>
              </a:rPr>
              <a:t>MongoDB (NoSQL documental)</a:t>
            </a:r>
            <a:endParaRPr sz="10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457200" y="3474720"/>
            <a:ext cx="8228880" cy="34668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640080" y="3474720"/>
            <a:ext cx="319968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Validación de outputs</a:t>
            </a:r>
            <a:endParaRPr sz="11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3931920" y="3474720"/>
            <a:ext cx="475416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strike="noStrike">
                <a:solidFill>
                  <a:srgbClr val="115E59"/>
                </a:solidFill>
                <a:latin typeface="Courier New"/>
                <a:ea typeface="Courier New"/>
                <a:cs typeface="Courier New"/>
                <a:sym typeface="Courier New"/>
              </a:rPr>
              <a:t>Pydantic v2</a:t>
            </a:r>
            <a:endParaRPr sz="10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457200" y="3822120"/>
            <a:ext cx="8228880" cy="346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640080" y="3822120"/>
            <a:ext cx="319968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 sz="11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3931920" y="3822120"/>
            <a:ext cx="475416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strike="noStrike">
                <a:solidFill>
                  <a:srgbClr val="115E59"/>
                </a:solidFill>
                <a:latin typeface="Courier New"/>
                <a:ea typeface="Courier New"/>
                <a:cs typeface="Courier New"/>
                <a:sym typeface="Courier New"/>
              </a:rPr>
              <a:t>Gradio</a:t>
            </a:r>
            <a:endParaRPr sz="10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457200" y="4169520"/>
            <a:ext cx="8228880" cy="34668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640080" y="4169520"/>
            <a:ext cx="319968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Observabilidad</a:t>
            </a:r>
            <a:endParaRPr sz="11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3931920" y="4169520"/>
            <a:ext cx="4754160" cy="34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strike="noStrike">
                <a:solidFill>
                  <a:srgbClr val="115E59"/>
                </a:solidFill>
                <a:latin typeface="Courier New"/>
                <a:ea typeface="Courier New"/>
                <a:cs typeface="Courier New"/>
                <a:sym typeface="Courier New"/>
              </a:rPr>
              <a:t>Logging propio (JSONL) + LangSmith opcional</a:t>
            </a:r>
            <a:endParaRPr sz="105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1"/>
          <p:cNvSpPr/>
          <p:nvPr/>
        </p:nvSpPr>
        <p:spPr>
          <a:xfrm>
            <a:off x="457200" y="449892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Provider y modelo del LLM son intercambiables por variables de entorno — no requiere tocar código.</a:t>
            </a:r>
            <a:endParaRPr sz="1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E59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2"/>
          <p:cNvSpPr/>
          <p:nvPr/>
        </p:nvSpPr>
        <p:spPr>
          <a:xfrm>
            <a:off x="457200" y="1463040"/>
            <a:ext cx="8228880" cy="137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Demo en vivo</a:t>
            </a:r>
            <a:endParaRPr sz="80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457200" y="2926080"/>
            <a:ext cx="8228880" cy="4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1" strike="noStrike">
                <a:solidFill>
                  <a:srgbClr val="A7F3D0"/>
                </a:solidFill>
                <a:latin typeface="Cambria"/>
                <a:ea typeface="Cambria"/>
                <a:cs typeface="Cambria"/>
                <a:sym typeface="Cambria"/>
              </a:rPr>
              <a:t>Paciente P003 y P002</a:t>
            </a:r>
            <a:endParaRPr sz="22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3566160" y="3840480"/>
            <a:ext cx="3650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2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3"/>
          <p:cNvSpPr/>
          <p:nvPr/>
        </p:nvSpPr>
        <p:spPr>
          <a:xfrm>
            <a:off x="457200" y="2286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BLOQUE 5  ·  RESULTADOS Y CIERRE</a:t>
            </a:r>
            <a:endParaRPr sz="11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457200" y="502920"/>
            <a:ext cx="822888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Conclusiones</a:t>
            </a:r>
            <a:endParaRPr sz="2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457200" y="1325880"/>
            <a:ext cx="822888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640080" y="1463040"/>
            <a:ext cx="913680" cy="68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1" strike="noStrike">
                <a:solidFill>
                  <a:srgbClr val="14B8A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3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1600200" y="1444680"/>
            <a:ext cx="68572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La arquitectura pesa más que el modelo</a:t>
            </a:r>
            <a:endParaRPr sz="1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3"/>
          <p:cNvSpPr/>
          <p:nvPr/>
        </p:nvSpPr>
        <p:spPr>
          <a:xfrm>
            <a:off x="1600200" y="1756800"/>
            <a:ext cx="685728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 decisión de mayor impacto no fue qué LLM usar, sino separar la capa determinística (tools) de la estocástica (parte de razonamiento) y estructurar los prompts y flujo de los agentes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457200" y="2441520"/>
            <a:ext cx="822888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/>
          <p:nvPr/>
        </p:nvSpPr>
        <p:spPr>
          <a:xfrm>
            <a:off x="640080" y="2578680"/>
            <a:ext cx="913680" cy="68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1" strike="noStrike">
                <a:solidFill>
                  <a:srgbClr val="14B8A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3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3"/>
          <p:cNvSpPr/>
          <p:nvPr/>
        </p:nvSpPr>
        <p:spPr>
          <a:xfrm>
            <a:off x="1600200" y="2416320"/>
            <a:ext cx="68572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La clave es la evaluación y mejora contínua</a:t>
            </a:r>
            <a:endParaRPr sz="1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3"/>
          <p:cNvSpPr/>
          <p:nvPr/>
        </p:nvSpPr>
        <p:spPr>
          <a:xfrm>
            <a:off x="1600200" y="2872440"/>
            <a:ext cx="6858000" cy="32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basta con hacer que el agente funcione, sino también que cumpla tanto los casos normales como los borde. La evaluación y refinamiento contínuo del sistema es el camino para la mejora contínua.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3"/>
          <p:cNvSpPr/>
          <p:nvPr/>
        </p:nvSpPr>
        <p:spPr>
          <a:xfrm>
            <a:off x="457200" y="3557160"/>
            <a:ext cx="822888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  <a:effectLst>
            <a:outerShdw blurRad="76320" dist="12600" dir="5400000" algn="bl" rotWithShape="0">
              <a:srgbClr val="0F172A">
                <a:alpha val="7058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/>
          <p:nvPr/>
        </p:nvSpPr>
        <p:spPr>
          <a:xfrm>
            <a:off x="640080" y="3694320"/>
            <a:ext cx="913680" cy="68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1" strike="noStrike">
                <a:solidFill>
                  <a:srgbClr val="14B8A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3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3"/>
          <p:cNvSpPr/>
          <p:nvPr/>
        </p:nvSpPr>
        <p:spPr>
          <a:xfrm>
            <a:off x="1600200" y="3603960"/>
            <a:ext cx="68572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strike="noStrike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Es importante optimizar el sistema</a:t>
            </a:r>
            <a:endParaRPr sz="1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3"/>
          <p:cNvSpPr/>
          <p:nvPr/>
        </p:nvSpPr>
        <p:spPr>
          <a:xfrm>
            <a:off x="1600200" y="3969000"/>
            <a:ext cx="685728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 optimización del sistema en cuanto a latencia, velocidad de generación y consumo de tokens es clave para asegurar un sistema viable económicamente y práctico para su uso.</a:t>
            </a:r>
            <a:endParaRPr sz="1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3"/>
          <p:cNvSpPr/>
          <p:nvPr/>
        </p:nvSpPr>
        <p:spPr>
          <a:xfrm>
            <a:off x="457200" y="482796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Grupo N°3 — Defensa TP2 IA 2026</a:t>
            </a:r>
            <a:endParaRPr sz="9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3"/>
          <p:cNvSpPr/>
          <p:nvPr/>
        </p:nvSpPr>
        <p:spPr>
          <a:xfrm>
            <a:off x="7772400" y="4827960"/>
            <a:ext cx="913680" cy="227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E59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1" name="Google Shape;621;p24"/>
          <p:cNvCxnSpPr/>
          <p:nvPr/>
        </p:nvCxnSpPr>
        <p:spPr>
          <a:xfrm>
            <a:off x="3931920" y="3886200"/>
            <a:ext cx="1097280" cy="360"/>
          </a:xfrm>
          <a:prstGeom prst="straightConnector1">
            <a:avLst/>
          </a:prstGeom>
          <a:noFill/>
          <a:ln w="254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2" name="Google Shape;622;p24"/>
          <p:cNvSpPr/>
          <p:nvPr/>
        </p:nvSpPr>
        <p:spPr>
          <a:xfrm>
            <a:off x="457200" y="1524960"/>
            <a:ext cx="8228880" cy="91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¡Gracias!</a:t>
            </a:r>
            <a:endParaRPr sz="60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457200" y="2439360"/>
            <a:ext cx="82288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strike="noStrike">
                <a:solidFill>
                  <a:srgbClr val="A7F3D0"/>
                </a:solidFill>
                <a:latin typeface="Cambria"/>
                <a:ea typeface="Cambria"/>
                <a:cs typeface="Cambria"/>
                <a:sym typeface="Cambria"/>
              </a:rPr>
              <a:t>Estamos disponibles para preguntas.</a:t>
            </a: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4"/>
          <p:cNvSpPr/>
          <p:nvPr/>
        </p:nvSpPr>
        <p:spPr>
          <a:xfrm>
            <a:off x="457200" y="2988000"/>
            <a:ext cx="822888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strike="noStrike">
                <a:solidFill>
                  <a:srgbClr val="94D3CE"/>
                </a:solidFill>
                <a:latin typeface="Calibri"/>
                <a:ea typeface="Calibri"/>
                <a:cs typeface="Calibri"/>
                <a:sym typeface="Calibri"/>
              </a:rPr>
              <a:t>gonzaloaguerodev@gmail.com  ·  marcosjd2005@gmail.com  ·  gonzagaitan8@gmail.com  ·  francoocampo.utn@gmail.com</a:t>
            </a:r>
            <a:endParaRPr sz="95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4"/>
          <p:cNvSpPr/>
          <p:nvPr/>
        </p:nvSpPr>
        <p:spPr>
          <a:xfrm>
            <a:off x="7772400" y="4827960"/>
            <a:ext cx="9138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900" b="0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2309</Words>
  <Application>Microsoft Office PowerPoint</Application>
  <PresentationFormat>Presentación en pantalla (16:9)</PresentationFormat>
  <Paragraphs>418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Noto Sans Symbols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Grupo N°3 — UTN FRSF</dc:creator>
  <cp:lastModifiedBy>Marcos Debona</cp:lastModifiedBy>
  <cp:revision>1</cp:revision>
  <dcterms:created xsi:type="dcterms:W3CDTF">2026-06-29T03:30:33Z</dcterms:created>
  <dcterms:modified xsi:type="dcterms:W3CDTF">2026-06-29T22:37:31Z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6</vt:i4>
  </property>
  <property fmtid="{D5CDD505-2E9C-101B-9397-08002B2CF9AE}" pid="3" name="Notes">
    <vt:i4>31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31</vt:i4>
  </property>
</Properties>
</file>